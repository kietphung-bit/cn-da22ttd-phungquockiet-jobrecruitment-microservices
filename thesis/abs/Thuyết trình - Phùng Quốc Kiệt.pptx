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7" r:id="rId10"/>
    <p:sldId id="268" r:id="rId11"/>
    <p:sldId id="269" r:id="rId12"/>
    <p:sldId id="270" r:id="rId13"/>
    <p:sldId id="263" r:id="rId14"/>
    <p:sldId id="264" r:id="rId15"/>
    <p:sldId id="266" r:id="rId16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89C6-F58B-3538-1EDF-5B9D31041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00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ADF44-4BD4-71A3-D087-215893274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D0276-B4E7-BDE8-91A0-B7C5076CB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AA4DF-9553-DD2C-73D2-59E323F1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D56D5-EA33-6E5A-7832-293F8828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  <p:pic>
        <p:nvPicPr>
          <p:cNvPr id="7" name="Picture 2" descr="PAM Air và Đại học Trà Vinh - PAM Air">
            <a:extLst>
              <a:ext uri="{FF2B5EF4-FFF2-40B4-BE49-F238E27FC236}">
                <a16:creationId xmlns:a16="http://schemas.microsoft.com/office/drawing/2014/main" id="{6A66DB31-5A41-6F6F-7C50-A8AF70C6AC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102"/>
            <a:ext cx="924560" cy="92456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032DD1-61E1-A9DA-1C57-F4384C36C3DD}"/>
              </a:ext>
            </a:extLst>
          </p:cNvPr>
          <p:cNvCxnSpPr>
            <a:cxnSpLocks/>
          </p:cNvCxnSpPr>
          <p:nvPr userDrawn="1"/>
        </p:nvCxnSpPr>
        <p:spPr>
          <a:xfrm>
            <a:off x="0" y="87693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8635FE-6C4D-7B13-8331-EE2D46F52A4A}"/>
              </a:ext>
            </a:extLst>
          </p:cNvPr>
          <p:cNvSpPr txBox="1"/>
          <p:nvPr userDrawn="1"/>
        </p:nvSpPr>
        <p:spPr>
          <a:xfrm>
            <a:off x="8247355" y="136525"/>
            <a:ext cx="3873525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/>
              </a:rPr>
              <a:t>TRƯỜNG KỸ THUẬT VÀ CÔNG NGHỆ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effectLst/>
              </a:rPr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79222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6D46E-89F6-D30F-225E-EEF4CD5E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46F67-03F6-06BF-3879-F0C41DDDC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3CC92-22BA-A104-7389-01052063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5B008-90B5-A0AF-B1E6-D9D3AF8E3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EB321-0A84-0A06-B8C2-91A6C4378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  <p:pic>
        <p:nvPicPr>
          <p:cNvPr id="9" name="Picture 2" descr="PAM Air và Đại học Trà Vinh - PAM Air">
            <a:extLst>
              <a:ext uri="{FF2B5EF4-FFF2-40B4-BE49-F238E27FC236}">
                <a16:creationId xmlns:a16="http://schemas.microsoft.com/office/drawing/2014/main" id="{B4509FAE-EBCC-024A-81AB-C956686CCE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102"/>
            <a:ext cx="924560" cy="92456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54A36-0687-189D-7E94-F5752D98F974}"/>
              </a:ext>
            </a:extLst>
          </p:cNvPr>
          <p:cNvCxnSpPr>
            <a:cxnSpLocks/>
          </p:cNvCxnSpPr>
          <p:nvPr userDrawn="1"/>
        </p:nvCxnSpPr>
        <p:spPr>
          <a:xfrm>
            <a:off x="0" y="87693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B4FB5D-87F5-F70D-6808-9E17936C57BE}"/>
              </a:ext>
            </a:extLst>
          </p:cNvPr>
          <p:cNvSpPr txBox="1"/>
          <p:nvPr userDrawn="1"/>
        </p:nvSpPr>
        <p:spPr>
          <a:xfrm>
            <a:off x="8247355" y="136525"/>
            <a:ext cx="3873525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/>
              </a:rPr>
              <a:t>TRƯỜNG KỸ THUẬT VÀ CÔNG NGHỆ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effectLst/>
              </a:rPr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26370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8ED8-F94B-1AAD-2E92-77DEA8728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F4539-2EAA-04FA-B8C9-1DD705908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81D49-169B-28BF-F66F-33D1C806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BEEB1-987F-9F27-7B2A-C2B61BED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FF0B2-863D-E0A4-E0EA-FDB90BEB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4020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CBFC-BD35-CEDB-94E9-4C2DBC8F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49102-E076-3279-43B0-DE0727FDD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FABC2-C4F9-093E-3F3C-06F381F94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F88EC-76A3-0738-7DFD-83720701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6D2AC-F931-2AA9-AD69-D2E24FD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3E859-0CDC-E20A-D51C-862578DD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1017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1805-E031-71B6-8385-D1E16A56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1784E-D965-3E59-4486-FDD8AF8DA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D17EB-1A6E-5B0D-ABF6-EC5EF44AC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E098F-83C1-5CE7-077A-359A1D0D0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32C20-34AD-3243-860B-0CF77C5D2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9EC1B-CDDC-E57F-7555-7D7C3257E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09583-21F6-EE63-7139-2B1847F6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5C694-BF22-3E3F-BE00-4A9505CC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0603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1E64-0D63-9549-9928-322E118E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ACAB6-6EAC-630F-16EA-4743E128F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8BD04-43AB-F029-158D-378020F2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BBAA4-2546-504D-5472-263D3A2A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1239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F1D40-36A3-B288-E3B2-1953DD98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09AE9-4BFA-5322-B1F7-12B7D9049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F866E-71B7-73CA-5615-A3CD967B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43219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6EF9D-3777-E053-2239-1DEE6184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D3EB2-922C-FB19-3C94-12217BC89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6F927-5A0F-51BB-CAA7-A382586AB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2B789-DF25-202D-E9D3-F51963E38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6D97E-9FD2-0A7D-9110-9BF15449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B25C5-130E-1DCE-8974-E97EFAA9F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2531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60FF-19A7-D198-81B0-F2D6AD09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1B2384-1A6C-5341-EBBB-32025C858D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E8435-EED9-4DC1-4B20-4DAC2A761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89866-CB92-0FB7-C3F5-F01C3E32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1E627-71DB-E24C-52E1-6E67B753E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11B71-F0C6-FB16-AB6D-428C124C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9780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DC0FA-E43E-4157-1412-3ED0974E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E9274-280F-F6D5-58E1-8369AD7F1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05CDC-5DFD-C776-F46C-90C2948C3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E3A50-51F0-115C-03F4-4D0F6B9B0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6C0FB-9676-369D-9834-19356691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2743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A2C856-ED97-8A1E-3B95-CE11F4C5F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1206B-D5C9-18A2-970B-EA449DAFA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6DD89-525B-2E32-0921-75D6E9125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2AB94-A691-DC56-4D69-802ED851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21879-2F8F-3B49-0D4E-14109EB2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82760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2">
            <a:extLst>
              <a:ext uri="{FF2B5EF4-FFF2-40B4-BE49-F238E27FC236}">
                <a16:creationId xmlns:a16="http://schemas.microsoft.com/office/drawing/2014/main" id="{D3E47E8B-B312-7EA5-25D7-797F4A8FCB89}"/>
              </a:ext>
            </a:extLst>
          </p:cNvPr>
          <p:cNvPicPr preferRelativeResize="0"/>
          <p:nvPr userDrawn="1"/>
        </p:nvPicPr>
        <p:blipFill rotWithShape="1">
          <a:blip r:embed="rId13">
            <a:alphaModFix amt="60000"/>
          </a:blip>
          <a:srcRect t="8467" b="-9"/>
          <a:stretch/>
        </p:blipFill>
        <p:spPr>
          <a:xfrm>
            <a:off x="0" y="0"/>
            <a:ext cx="12192000" cy="679141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78D004-5508-E598-EDA9-2FD00A408487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847A31-4A49-F099-49CB-F4E5292A5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9982"/>
            <a:ext cx="10515600" cy="8599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00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BC3E0-5919-016B-93EE-AC5C69B64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58077"/>
            <a:ext cx="10515600" cy="4218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00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B5752-8EAE-43FC-D680-F6322B2E1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11E99-206A-44E2-8C68-5909D7B6F28B}" type="datetimeFigureOut">
              <a:rPr lang="en-001" smtClean="0"/>
              <a:t>11/01/2026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478C3-86FC-E3EE-DEBF-F40F9CEF2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79F8B-334C-B77E-C364-4E3326426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08004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86EA-D830-76D6-19C4-E94DF11F0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5200"/>
            <a:ext cx="12192000" cy="2387600"/>
          </a:xfrm>
        </p:spPr>
        <p:txBody>
          <a:bodyPr anchor="ctr">
            <a:normAutofit/>
          </a:bodyPr>
          <a:lstStyle/>
          <a:p>
            <a:r>
              <a:rPr lang="en-US" sz="5000" b="1" dirty="0"/>
              <a:t>XÂY DỰNG WEBSITE TUYỂN DỤNG</a:t>
            </a:r>
            <a:br>
              <a:rPr lang="en-US" sz="5000" b="1" dirty="0"/>
            </a:br>
            <a:r>
              <a:rPr lang="en-US" sz="5000" b="1" dirty="0"/>
              <a:t>VÀ TÌM KIẾM VIỆC LÀM</a:t>
            </a:r>
            <a:endParaRPr lang="en-001" sz="5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E6472-A1E4-A78A-DD54-9BA3F2183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2796" y="1924615"/>
            <a:ext cx="6966408" cy="621170"/>
          </a:xfrm>
        </p:spPr>
        <p:txBody>
          <a:bodyPr anchor="ctr">
            <a:noAutofit/>
          </a:bodyPr>
          <a:lstStyle/>
          <a:p>
            <a:r>
              <a:rPr lang="en-US" sz="3500" b="1" dirty="0"/>
              <a:t>ĐỀ TÀI CHUYÊN NGÀNH</a:t>
            </a:r>
            <a:endParaRPr lang="en-001" sz="35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9067104-1948-E169-E006-CBA00F13E1F9}"/>
              </a:ext>
            </a:extLst>
          </p:cNvPr>
          <p:cNvSpPr txBox="1">
            <a:spLocks/>
          </p:cNvSpPr>
          <p:nvPr/>
        </p:nvSpPr>
        <p:spPr>
          <a:xfrm>
            <a:off x="0" y="5976594"/>
            <a:ext cx="4468305" cy="8814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vi-VN" sz="1800" b="1" dirty="0"/>
              <a:t>Giáo viên hướng dẫn: ThS. Võ Thành C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6488896-3BC9-7F4C-92F1-BB4DB621C41C}"/>
              </a:ext>
            </a:extLst>
          </p:cNvPr>
          <p:cNvSpPr txBox="1">
            <a:spLocks/>
          </p:cNvSpPr>
          <p:nvPr/>
        </p:nvSpPr>
        <p:spPr>
          <a:xfrm>
            <a:off x="7723695" y="4933384"/>
            <a:ext cx="4468305" cy="1924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vi-VN" sz="1800" b="1" dirty="0"/>
              <a:t>Sinh viên thực hiện :</a:t>
            </a:r>
          </a:p>
          <a:p>
            <a:pPr algn="l"/>
            <a:r>
              <a:rPr lang="vi-VN" sz="1800" b="1" dirty="0"/>
              <a:t>Họ và tên: Phùng Quốc Kiệt</a:t>
            </a:r>
          </a:p>
          <a:p>
            <a:pPr algn="l"/>
            <a:r>
              <a:rPr lang="vi-VN" sz="1800" b="1" dirty="0"/>
              <a:t>MSSV: 110122101</a:t>
            </a:r>
          </a:p>
          <a:p>
            <a:pPr algn="l"/>
            <a:r>
              <a:rPr lang="vi-VN" sz="1800" b="1" dirty="0"/>
              <a:t>Lớp: DA22TTD</a:t>
            </a:r>
          </a:p>
        </p:txBody>
      </p:sp>
    </p:spTree>
    <p:extLst>
      <p:ext uri="{BB962C8B-B14F-4D97-AF65-F5344CB8AC3E}">
        <p14:creationId xmlns:p14="http://schemas.microsoft.com/office/powerpoint/2010/main" val="2585337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304A-E3DC-D1CF-59ED-694395D3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2846-78C8-B55E-AD62-26F9F77D4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Lý do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466174309"/>
      </p:ext>
    </p:extLst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3367-FEB8-2901-F2D7-15BCAE94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Lý do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7E8B3-2BFF-E868-1DB6-574FD8D9A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Sự phổ biến của tuyển dụng trên Internet.</a:t>
            </a:r>
          </a:p>
          <a:p>
            <a:r>
              <a:rPr lang="vi-VN" dirty="0"/>
              <a:t>Tuyển dụng trên mạng xã hội chưa có hiệu quả.</a:t>
            </a:r>
          </a:p>
          <a:p>
            <a:r>
              <a:rPr lang="vi-VN" dirty="0"/>
              <a:t>Công nghệ xây dựng hệ thống website này càng hiện đại.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69678962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7C1E7-2A29-4473-AD89-CFCDFE64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4B57-5CD2-F7DA-2E3E-BD23F23A6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4CB01-1900-E42D-953E-C9DE490AA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Tìm hiểu các tính năng phù hợp với bài toán tuyển dụng.</a:t>
            </a:r>
          </a:p>
          <a:p>
            <a:r>
              <a:rPr lang="vi-VN" dirty="0"/>
              <a:t>Xây dựng được một website tuyển dụng và tìm kiếm việc làm với những tính năng cơ bản.</a:t>
            </a:r>
          </a:p>
        </p:txBody>
      </p:sp>
    </p:spTree>
    <p:extLst>
      <p:ext uri="{BB962C8B-B14F-4D97-AF65-F5344CB8AC3E}">
        <p14:creationId xmlns:p14="http://schemas.microsoft.com/office/powerpoint/2010/main" val="333812430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43C1-966A-15EC-8722-B850AAC05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BCDEC-6513-6183-F34F-007F0553E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endParaRPr lang="en-00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D065CF-B9B3-2180-504C-B534C570045D}"/>
              </a:ext>
            </a:extLst>
          </p:cNvPr>
          <p:cNvGrpSpPr/>
          <p:nvPr/>
        </p:nvGrpSpPr>
        <p:grpSpPr>
          <a:xfrm>
            <a:off x="1239365" y="2557413"/>
            <a:ext cx="9713268" cy="2997724"/>
            <a:chOff x="1239365" y="2557413"/>
            <a:chExt cx="9713268" cy="299772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A158CB6-05AB-3BFC-E701-23F6F040E92C}"/>
                </a:ext>
              </a:extLst>
            </p:cNvPr>
            <p:cNvSpPr/>
            <p:nvPr/>
          </p:nvSpPr>
          <p:spPr>
            <a:xfrm>
              <a:off x="1239365" y="2557413"/>
              <a:ext cx="2790334" cy="2997724"/>
            </a:xfrm>
            <a:prstGeom prst="roundRect">
              <a:avLst/>
            </a:prstGeom>
            <a:solidFill>
              <a:schemeClr val="bg1">
                <a:alpha val="40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9319B40-03A9-1829-DEAA-BD6B4E32826D}"/>
                </a:ext>
              </a:extLst>
            </p:cNvPr>
            <p:cNvSpPr/>
            <p:nvPr/>
          </p:nvSpPr>
          <p:spPr>
            <a:xfrm>
              <a:off x="4700832" y="2557413"/>
              <a:ext cx="2790334" cy="2997724"/>
            </a:xfrm>
            <a:prstGeom prst="roundRect">
              <a:avLst/>
            </a:prstGeom>
            <a:solidFill>
              <a:schemeClr val="bg1">
                <a:alpha val="40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4671368-C39E-7B14-FD94-813B29761743}"/>
                </a:ext>
              </a:extLst>
            </p:cNvPr>
            <p:cNvSpPr/>
            <p:nvPr/>
          </p:nvSpPr>
          <p:spPr>
            <a:xfrm>
              <a:off x="8162299" y="2557413"/>
              <a:ext cx="2790334" cy="2997724"/>
            </a:xfrm>
            <a:prstGeom prst="roundRect">
              <a:avLst/>
            </a:prstGeom>
            <a:solidFill>
              <a:schemeClr val="bg1">
                <a:alpha val="40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84FACA8-2143-CFCA-B74D-5FE88D2A17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8" t="6284" r="3455" b="9442"/>
            <a:stretch>
              <a:fillRect/>
            </a:stretch>
          </p:blipFill>
          <p:spPr>
            <a:xfrm>
              <a:off x="1734532" y="3014301"/>
              <a:ext cx="1800000" cy="163644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49D25E8-3569-C161-CBEA-208E8D61D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667" b="97778" l="1778" r="97778">
                          <a14:foregroundMark x1="50222" y1="11556" x2="37778" y2="3111"/>
                          <a14:foregroundMark x1="69778" y1="41778" x2="47111" y2="53333"/>
                          <a14:foregroundMark x1="31556" y1="50222" x2="61778" y2="47111"/>
                          <a14:foregroundMark x1="61778" y1="47111" x2="81778" y2="65333"/>
                          <a14:foregroundMark x1="81778" y1="65333" x2="87556" y2="36889"/>
                          <a14:foregroundMark x1="87556" y1="36889" x2="77778" y2="67556"/>
                          <a14:foregroundMark x1="77778" y1="67556" x2="70667" y2="72444"/>
                          <a14:foregroundMark x1="76444" y1="42222" x2="31111" y2="67111"/>
                          <a14:foregroundMark x1="31111" y1="67111" x2="51556" y2="89778"/>
                          <a14:foregroundMark x1="51556" y1="89778" x2="83111" y2="77333"/>
                          <a14:foregroundMark x1="83111" y1="77333" x2="98222" y2="43111"/>
                          <a14:foregroundMark x1="98222" y1="43111" x2="98222" y2="40444"/>
                          <a14:foregroundMark x1="64444" y1="20444" x2="32889" y2="33333"/>
                          <a14:foregroundMark x1="32889" y1="33333" x2="28889" y2="29333"/>
                          <a14:foregroundMark x1="61778" y1="14667" x2="17778" y2="30667"/>
                          <a14:foregroundMark x1="17778" y1="30667" x2="8889" y2="68444"/>
                          <a14:foregroundMark x1="8889" y1="68444" x2="17778" y2="24444"/>
                          <a14:foregroundMark x1="17778" y1="24444" x2="5778" y2="49333"/>
                          <a14:foregroundMark x1="5778" y1="49333" x2="23556" y2="20444"/>
                          <a14:foregroundMark x1="23556" y1="20444" x2="49333" y2="4444"/>
                          <a14:foregroundMark x1="49333" y1="4444" x2="72889" y2="19556"/>
                          <a14:foregroundMark x1="72889" y1="19556" x2="70222" y2="69333"/>
                          <a14:foregroundMark x1="70222" y1="69333" x2="32000" y2="56889"/>
                          <a14:foregroundMark x1="32000" y1="56889" x2="31111" y2="38222"/>
                          <a14:foregroundMark x1="30222" y1="25333" x2="20000" y2="69778"/>
                          <a14:foregroundMark x1="20000" y1="69778" x2="6222" y2="44889"/>
                          <a14:foregroundMark x1="6222" y1="44889" x2="18222" y2="73333"/>
                          <a14:foregroundMark x1="34422" y1="92855" x2="35556" y2="94222"/>
                          <a14:foregroundMark x1="18222" y1="73333" x2="33900" y2="92226"/>
                          <a14:foregroundMark x1="35556" y1="94222" x2="67111" y2="92889"/>
                          <a14:foregroundMark x1="67111" y1="92889" x2="76889" y2="84889"/>
                          <a14:foregroundMark x1="85778" y1="34222" x2="76444" y2="33778"/>
                          <a14:foregroundMark x1="81778" y1="23111" x2="82222" y2="29778"/>
                          <a14:foregroundMark x1="73333" y1="32000" x2="30667" y2="47556"/>
                          <a14:foregroundMark x1="30667" y1="47556" x2="55556" y2="37333"/>
                          <a14:foregroundMark x1="55556" y1="37333" x2="36000" y2="67556"/>
                          <a14:foregroundMark x1="36000" y1="67556" x2="65333" y2="79111"/>
                          <a14:foregroundMark x1="65333" y1="79111" x2="43111" y2="96000"/>
                          <a14:foregroundMark x1="43111" y1="96000" x2="76444" y2="75556"/>
                          <a14:foregroundMark x1="76444" y1="75556" x2="88889" y2="37778"/>
                          <a14:foregroundMark x1="88889" y1="37778" x2="59111" y2="24000"/>
                          <a14:foregroundMark x1="59111" y1="24000" x2="25333" y2="26222"/>
                          <a14:foregroundMark x1="25333" y1="26222" x2="2667" y2="47111"/>
                          <a14:foregroundMark x1="2667" y1="47111" x2="24000" y2="14667"/>
                          <a14:foregroundMark x1="24000" y1="14667" x2="28444" y2="49333"/>
                          <a14:foregroundMark x1="28444" y1="49333" x2="44889" y2="76889"/>
                          <a14:foregroundMark x1="44889" y1="76889" x2="16889" y2="80444"/>
                          <a14:foregroundMark x1="16889" y1="80444" x2="61333" y2="94667"/>
                          <a14:foregroundMark x1="61333" y1="94667" x2="81333" y2="66667"/>
                          <a14:foregroundMark x1="81333" y1="66667" x2="56000" y2="79111"/>
                          <a14:foregroundMark x1="56000" y1="79111" x2="53333" y2="43111"/>
                          <a14:foregroundMark x1="53333" y1="43111" x2="80889" y2="34222"/>
                          <a14:foregroundMark x1="80889" y1="34222" x2="56000" y2="60000"/>
                          <a14:foregroundMark x1="56000" y1="60000" x2="39556" y2="38667"/>
                          <a14:foregroundMark x1="39556" y1="38667" x2="60889" y2="20444"/>
                          <a14:foregroundMark x1="60889" y1="20444" x2="36889" y2="6667"/>
                          <a14:foregroundMark x1="36889" y1="6667" x2="77778" y2="17778"/>
                          <a14:foregroundMark x1="77778" y1="17778" x2="79556" y2="43556"/>
                          <a14:foregroundMark x1="3111" y1="36889" x2="2222" y2="44000"/>
                          <a14:foregroundMark x1="89333" y1="41333" x2="91556" y2="14667"/>
                          <a14:foregroundMark x1="91556" y1="14667" x2="85778" y2="17778"/>
                          <a14:foregroundMark x1="37333" y1="97778" x2="40000" y2="96000"/>
                          <a14:foregroundMark x1="18222" y1="86667" x2="19556" y2="87111"/>
                          <a14:foregroundMark x1="27111" y1="90222" x2="18222" y2="86222"/>
                          <a14:foregroundMark x1="22667" y1="89333" x2="16000" y2="84889"/>
                          <a14:backgroundMark x1="36889" y1="98667" x2="36444" y2="9822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6000" y="2932522"/>
              <a:ext cx="1800000" cy="180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54AB3F-98D3-4EB3-D668-445401241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7468" y="2904411"/>
              <a:ext cx="1800000" cy="1856222"/>
            </a:xfrm>
            <a:prstGeom prst="rect">
              <a:avLst/>
            </a:prstGeom>
          </p:spPr>
        </p:pic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7E0ED0-A9F8-5D52-9F4D-E8F0CFAC6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532" y="4760633"/>
            <a:ext cx="1800000" cy="599336"/>
          </a:xfrm>
        </p:spPr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UI</a:t>
            </a:r>
            <a:endParaRPr lang="vi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80C23B-FC11-8D97-6143-264D5FBB28B3}"/>
              </a:ext>
            </a:extLst>
          </p:cNvPr>
          <p:cNvSpPr txBox="1">
            <a:spLocks/>
          </p:cNvSpPr>
          <p:nvPr/>
        </p:nvSpPr>
        <p:spPr>
          <a:xfrm>
            <a:off x="5031319" y="4788954"/>
            <a:ext cx="2129360" cy="5993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RESTful API</a:t>
            </a:r>
            <a:endParaRPr lang="vi-V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16425D9-8C7C-835E-0CCD-CE2AD83C6DBE}"/>
              </a:ext>
            </a:extLst>
          </p:cNvPr>
          <p:cNvSpPr txBox="1">
            <a:spLocks/>
          </p:cNvSpPr>
          <p:nvPr/>
        </p:nvSpPr>
        <p:spPr>
          <a:xfrm>
            <a:off x="8657466" y="4788954"/>
            <a:ext cx="1800000" cy="599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Database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9016135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5CBF3-4B46-F264-2928-AB9A83217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F024-87E1-2715-AD3F-ADC210DB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32CBF-5A43-2DE0-F7A9-FF9953790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0208" cy="4351338"/>
          </a:xfrm>
        </p:spPr>
        <p:txBody>
          <a:bodyPr>
            <a:normAutofit/>
          </a:bodyPr>
          <a:lstStyle/>
          <a:p>
            <a:r>
              <a:rPr lang="vi-VN" sz="2600" dirty="0"/>
              <a:t>Người tìm việc: </a:t>
            </a:r>
            <a:r>
              <a:rPr lang="en-US" sz="2600" dirty="0"/>
              <a:t>q</a:t>
            </a:r>
            <a:r>
              <a:rPr lang="vi-VN" sz="2600" dirty="0"/>
              <a:t>uản lý hồ sơ/CV, tìm kiếm việc làm, nộp đơn ứng tuyển trực tuyến, theo dõi trạng thái hồ sơ.</a:t>
            </a:r>
          </a:p>
          <a:p>
            <a:r>
              <a:rPr lang="vi-VN" sz="2600" dirty="0"/>
              <a:t>Nhà tuyển dụng: </a:t>
            </a:r>
            <a:r>
              <a:rPr lang="en-US" sz="2600" dirty="0"/>
              <a:t>q</a:t>
            </a:r>
            <a:r>
              <a:rPr lang="vi-VN" sz="2600" dirty="0"/>
              <a:t>uản lý hồ sơ công ty, đăng và quản lý tin tuyển dụng, lọc và duyệt hồ sơ ứng viên, tìm kiếm ứng viên tiềm năng.</a:t>
            </a:r>
          </a:p>
          <a:p>
            <a:r>
              <a:rPr lang="vi-VN" sz="2600" dirty="0"/>
              <a:t>Quản trị viên: </a:t>
            </a:r>
            <a:r>
              <a:rPr lang="en-US" sz="2600" dirty="0"/>
              <a:t>q</a:t>
            </a:r>
            <a:r>
              <a:rPr lang="vi-VN" sz="2600" dirty="0"/>
              <a:t>uản lý người dùng, kiểm duyệt thông tin doanh nghiệp và tin đăng, quản lý danh mục hệ thống và thống kê báo cáo.</a:t>
            </a:r>
            <a:endParaRPr lang="en-001" sz="2600" dirty="0"/>
          </a:p>
        </p:txBody>
      </p:sp>
    </p:spTree>
    <p:extLst>
      <p:ext uri="{BB962C8B-B14F-4D97-AF65-F5344CB8AC3E}">
        <p14:creationId xmlns:p14="http://schemas.microsoft.com/office/powerpoint/2010/main" val="169964866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D139-BE6F-B27E-364E-B3EA9F45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B609-CC26-C881-1967-EAF0740A4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00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F56745-2BFC-4206-B13D-E1A89F327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622" y="2020626"/>
            <a:ext cx="5576754" cy="4394868"/>
          </a:xfrm>
        </p:spPr>
      </p:pic>
    </p:spTree>
    <p:extLst>
      <p:ext uri="{BB962C8B-B14F-4D97-AF65-F5344CB8AC3E}">
        <p14:creationId xmlns:p14="http://schemas.microsoft.com/office/powerpoint/2010/main" val="377981894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39F8B-4EAA-3842-0A7C-BA3F13BCE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37EF-9F19-3445-9AA5-D41741BA6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00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AC7E3F-B00E-39E9-B26C-FE0E037E8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385" y="2576625"/>
            <a:ext cx="6953230" cy="3773938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0DA69E-B22B-A357-5264-2C18004EC4F6}"/>
              </a:ext>
            </a:extLst>
          </p:cNvPr>
          <p:cNvSpPr txBox="1">
            <a:spLocks/>
          </p:cNvSpPr>
          <p:nvPr/>
        </p:nvSpPr>
        <p:spPr>
          <a:xfrm>
            <a:off x="838199" y="1781666"/>
            <a:ext cx="10728489" cy="7258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err="1"/>
              <a:t>Sơ</a:t>
            </a:r>
            <a:r>
              <a:rPr lang="en-US" sz="2600" dirty="0"/>
              <a:t> </a:t>
            </a:r>
            <a:r>
              <a:rPr lang="en-US" sz="2600" dirty="0" err="1"/>
              <a:t>đồ</a:t>
            </a:r>
            <a:r>
              <a:rPr lang="en-US" sz="2600" dirty="0"/>
              <a:t> </a:t>
            </a:r>
            <a:r>
              <a:rPr lang="en-US" sz="2600" dirty="0" err="1"/>
              <a:t>phân</a:t>
            </a:r>
            <a:r>
              <a:rPr lang="en-US" sz="2600" dirty="0"/>
              <a:t> </a:t>
            </a:r>
            <a:r>
              <a:rPr lang="en-US" sz="2600" dirty="0" err="1"/>
              <a:t>cấp</a:t>
            </a:r>
            <a:r>
              <a:rPr lang="en-US" sz="2600" dirty="0"/>
              <a:t> </a:t>
            </a:r>
            <a:r>
              <a:rPr lang="en-US" sz="2600" dirty="0" err="1"/>
              <a:t>chức</a:t>
            </a:r>
            <a:r>
              <a:rPr lang="en-US" sz="2600" dirty="0"/>
              <a:t> </a:t>
            </a:r>
            <a:r>
              <a:rPr lang="en-US" sz="2600" dirty="0" err="1"/>
              <a:t>năng</a:t>
            </a:r>
            <a:r>
              <a:rPr lang="en-US" sz="2600" dirty="0"/>
              <a:t>:</a:t>
            </a:r>
            <a:endParaRPr lang="en-001" sz="2600" dirty="0"/>
          </a:p>
        </p:txBody>
      </p:sp>
    </p:spTree>
    <p:extLst>
      <p:ext uri="{BB962C8B-B14F-4D97-AF65-F5344CB8AC3E}">
        <p14:creationId xmlns:p14="http://schemas.microsoft.com/office/powerpoint/2010/main" val="254309953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B4C1-4394-0ECC-63BF-905B91E07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3D42-B49A-75C5-B985-D8EFF2FE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00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0013B1-EE3A-D135-4E39-C6DF740E2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296711" y="1846960"/>
            <a:ext cx="4075521" cy="462697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C34668-FFBD-D8FF-1F08-8D2D2998E7A2}"/>
              </a:ext>
            </a:extLst>
          </p:cNvPr>
          <p:cNvSpPr txBox="1">
            <a:spLocks/>
          </p:cNvSpPr>
          <p:nvPr/>
        </p:nvSpPr>
        <p:spPr>
          <a:xfrm>
            <a:off x="932467" y="1846960"/>
            <a:ext cx="10728489" cy="703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err="1"/>
              <a:t>Sơ</a:t>
            </a:r>
            <a:r>
              <a:rPr lang="en-US" sz="2600" dirty="0"/>
              <a:t> </a:t>
            </a:r>
            <a:r>
              <a:rPr lang="en-US" sz="2600" dirty="0" err="1"/>
              <a:t>đồ</a:t>
            </a:r>
            <a:r>
              <a:rPr lang="en-US" sz="2600" dirty="0"/>
              <a:t> Use case </a:t>
            </a:r>
            <a:r>
              <a:rPr lang="en-US" sz="2600" dirty="0" err="1"/>
              <a:t>tổng</a:t>
            </a:r>
            <a:r>
              <a:rPr lang="en-US" sz="2600" dirty="0"/>
              <a:t> </a:t>
            </a:r>
            <a:r>
              <a:rPr lang="en-US" sz="2600" dirty="0" err="1"/>
              <a:t>quát</a:t>
            </a:r>
            <a:r>
              <a:rPr lang="en-US" sz="2600" dirty="0"/>
              <a:t>:</a:t>
            </a:r>
            <a:endParaRPr lang="en-001" sz="2600" dirty="0"/>
          </a:p>
        </p:txBody>
      </p:sp>
    </p:spTree>
    <p:extLst>
      <p:ext uri="{BB962C8B-B14F-4D97-AF65-F5344CB8AC3E}">
        <p14:creationId xmlns:p14="http://schemas.microsoft.com/office/powerpoint/2010/main" val="358670768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F1482-583D-F3CA-78D3-29DBE13B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EB820A-545A-BAF4-8F53-B552F7A2E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296711" y="1889974"/>
            <a:ext cx="3307081" cy="46459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07616-BD9E-DB44-7D3E-0DC6674669FE}"/>
              </a:ext>
            </a:extLst>
          </p:cNvPr>
          <p:cNvSpPr txBox="1">
            <a:spLocks/>
          </p:cNvSpPr>
          <p:nvPr/>
        </p:nvSpPr>
        <p:spPr>
          <a:xfrm>
            <a:off x="932467" y="1846960"/>
            <a:ext cx="10728489" cy="703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err="1"/>
              <a:t>Sơ</a:t>
            </a:r>
            <a:r>
              <a:rPr lang="en-US" sz="2600" dirty="0"/>
              <a:t> </a:t>
            </a:r>
            <a:r>
              <a:rPr lang="en-US" sz="2600" dirty="0" err="1"/>
              <a:t>đồ</a:t>
            </a:r>
            <a:r>
              <a:rPr lang="en-US" sz="2600" dirty="0"/>
              <a:t> Use case </a:t>
            </a:r>
            <a:r>
              <a:rPr lang="en-US" sz="2600" dirty="0" err="1"/>
              <a:t>quản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:</a:t>
            </a:r>
            <a:endParaRPr lang="en-001" sz="2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5726E0-EEBD-90A1-F214-3BADC80F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9982"/>
            <a:ext cx="10515600" cy="859992"/>
          </a:xfrm>
        </p:spPr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1156902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FB4A5-8F81-A064-E0DF-AE1FE82A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B0FDE-B07F-AF27-4DA4-AD05B1F4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00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7A00D0-1C66-A177-3EAB-9CA9281BD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296711" y="1846960"/>
            <a:ext cx="3961469" cy="45722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DBFC1-A5CE-9F07-526F-9568326CA8F5}"/>
              </a:ext>
            </a:extLst>
          </p:cNvPr>
          <p:cNvSpPr txBox="1">
            <a:spLocks/>
          </p:cNvSpPr>
          <p:nvPr/>
        </p:nvSpPr>
        <p:spPr>
          <a:xfrm>
            <a:off x="932467" y="1846960"/>
            <a:ext cx="10728489" cy="703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err="1"/>
              <a:t>Sơ</a:t>
            </a:r>
            <a:r>
              <a:rPr lang="en-US" sz="2600" dirty="0"/>
              <a:t> </a:t>
            </a:r>
            <a:r>
              <a:rPr lang="en-US" sz="2600" dirty="0" err="1"/>
              <a:t>đồ</a:t>
            </a:r>
            <a:r>
              <a:rPr lang="en-US" sz="2600" dirty="0"/>
              <a:t> Use case </a:t>
            </a:r>
            <a:r>
              <a:rPr lang="en-US" sz="2600" dirty="0" err="1"/>
              <a:t>nhà</a:t>
            </a:r>
            <a:r>
              <a:rPr lang="en-US" sz="2600" dirty="0"/>
              <a:t> </a:t>
            </a:r>
            <a:r>
              <a:rPr lang="en-US" sz="2600" dirty="0" err="1"/>
              <a:t>tuyển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:</a:t>
            </a:r>
            <a:endParaRPr lang="en-001" sz="2600" dirty="0"/>
          </a:p>
        </p:txBody>
      </p:sp>
    </p:spTree>
    <p:extLst>
      <p:ext uri="{BB962C8B-B14F-4D97-AF65-F5344CB8AC3E}">
        <p14:creationId xmlns:p14="http://schemas.microsoft.com/office/powerpoint/2010/main" val="168166386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6A117-A506-3234-9AA8-570DFDB6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8BC4A-2900-5F84-065B-2D4D776F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00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AB0F7C-2609-9DD8-74E0-4B18073C9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296711" y="1846960"/>
            <a:ext cx="3674908" cy="448173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32BD-C4A1-A9FC-FA05-9D452FC70C21}"/>
              </a:ext>
            </a:extLst>
          </p:cNvPr>
          <p:cNvSpPr txBox="1">
            <a:spLocks/>
          </p:cNvSpPr>
          <p:nvPr/>
        </p:nvSpPr>
        <p:spPr>
          <a:xfrm>
            <a:off x="932467" y="1846960"/>
            <a:ext cx="10728489" cy="703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err="1"/>
              <a:t>Sơ</a:t>
            </a:r>
            <a:r>
              <a:rPr lang="en-US" sz="2600" dirty="0"/>
              <a:t> </a:t>
            </a:r>
            <a:r>
              <a:rPr lang="en-US" sz="2600" dirty="0" err="1"/>
              <a:t>đồ</a:t>
            </a:r>
            <a:r>
              <a:rPr lang="en-US" sz="2600" dirty="0"/>
              <a:t> Use case </a:t>
            </a:r>
            <a:r>
              <a:rPr lang="en-US" sz="2600" dirty="0" err="1"/>
              <a:t>ứng</a:t>
            </a:r>
            <a:r>
              <a:rPr lang="en-US" sz="2600" dirty="0"/>
              <a:t> </a:t>
            </a:r>
            <a:r>
              <a:rPr lang="en-US" sz="2600" dirty="0" err="1"/>
              <a:t>viên</a:t>
            </a:r>
            <a:r>
              <a:rPr lang="en-US" sz="2600" dirty="0"/>
              <a:t>:</a:t>
            </a:r>
            <a:endParaRPr lang="en-001" sz="2600" dirty="0"/>
          </a:p>
        </p:txBody>
      </p:sp>
    </p:spTree>
    <p:extLst>
      <p:ext uri="{BB962C8B-B14F-4D97-AF65-F5344CB8AC3E}">
        <p14:creationId xmlns:p14="http://schemas.microsoft.com/office/powerpoint/2010/main" val="362257210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4CEF7-C232-226B-45AE-F1824A6F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37966-00D5-9F2F-9917-6DAC135E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C3545-2FDA-BDA7-086F-D0790AD6B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963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Bao </a:t>
            </a:r>
            <a:r>
              <a:rPr lang="en-US" sz="2600" dirty="0" err="1"/>
              <a:t>gồm</a:t>
            </a:r>
            <a:r>
              <a:rPr lang="en-US" sz="2600" dirty="0"/>
              <a:t>:</a:t>
            </a:r>
          </a:p>
          <a:p>
            <a:r>
              <a:rPr lang="vi-VN" sz="2600" dirty="0"/>
              <a:t>Tài liệu: </a:t>
            </a:r>
            <a:r>
              <a:rPr lang="en-US" sz="2600" dirty="0"/>
              <a:t>h</a:t>
            </a:r>
            <a:r>
              <a:rPr lang="vi-VN" sz="2600" dirty="0"/>
              <a:t>oàn thiện tài liệu API trên Swagger.</a:t>
            </a:r>
          </a:p>
          <a:p>
            <a:r>
              <a:rPr lang="vi-VN" sz="2600" dirty="0"/>
              <a:t>Kiểm thử: API đã qua kiểm thử trên Postman, đảm bảo tính ổn định và phản hồi đúng định dạng.</a:t>
            </a:r>
          </a:p>
          <a:p>
            <a:r>
              <a:rPr lang="vi-VN" sz="2600" dirty="0"/>
              <a:t>Giao diện: Website hiển thị tốt các trang công khai (Trang chủ, Tin tuyển dụng) và các trang quản lý riêng biệt cho từng nhóm đối tượng.</a:t>
            </a:r>
            <a:endParaRPr lang="en-001" sz="2600" dirty="0"/>
          </a:p>
        </p:txBody>
      </p:sp>
    </p:spTree>
    <p:extLst>
      <p:ext uri="{BB962C8B-B14F-4D97-AF65-F5344CB8AC3E}">
        <p14:creationId xmlns:p14="http://schemas.microsoft.com/office/powerpoint/2010/main" val="334868463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3BC84-BBFC-400B-9508-4795BCBC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1CED-8006-91C4-AB36-619038B9C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</a:t>
            </a:r>
            <a:r>
              <a:rPr lang="en-US"/>
              <a:t>.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DC7D4-F6F4-6493-75F6-76B305F3D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8489" cy="4351338"/>
          </a:xfrm>
        </p:spPr>
        <p:txBody>
          <a:bodyPr>
            <a:normAutofit/>
          </a:bodyPr>
          <a:lstStyle/>
          <a:p>
            <a:r>
              <a:rPr lang="vi-VN" sz="2600" dirty="0"/>
              <a:t>Tối ưu hóa hơn nữa về giao diện và trải nghiệm người dùng.</a:t>
            </a:r>
          </a:p>
          <a:p>
            <a:r>
              <a:rPr lang="vi-VN" sz="2600" dirty="0"/>
              <a:t>Tăng cường các tính năng bảo mật nâng cao.</a:t>
            </a:r>
          </a:p>
          <a:p>
            <a:r>
              <a:rPr lang="vi-VN" sz="2600" dirty="0"/>
              <a:t>Nghiên cứu và tích hợp các chức năng thông minh trong tuyển dụng.</a:t>
            </a:r>
            <a:endParaRPr lang="en-001" sz="2600" dirty="0"/>
          </a:p>
        </p:txBody>
      </p:sp>
    </p:spTree>
    <p:extLst>
      <p:ext uri="{BB962C8B-B14F-4D97-AF65-F5344CB8AC3E}">
        <p14:creationId xmlns:p14="http://schemas.microsoft.com/office/powerpoint/2010/main" val="254102945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377DA-BFC1-72EF-7979-F9969E5B5DA3}"/>
              </a:ext>
            </a:extLst>
          </p:cNvPr>
          <p:cNvSpPr txBox="1">
            <a:spLocks/>
          </p:cNvSpPr>
          <p:nvPr/>
        </p:nvSpPr>
        <p:spPr>
          <a:xfrm>
            <a:off x="0" y="2235200"/>
            <a:ext cx="12192000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000" dirty="0"/>
              <a:t>THANK YOU</a:t>
            </a:r>
            <a:endParaRPr lang="en-001" sz="7000" dirty="0"/>
          </a:p>
        </p:txBody>
      </p:sp>
    </p:spTree>
    <p:extLst>
      <p:ext uri="{BB962C8B-B14F-4D97-AF65-F5344CB8AC3E}">
        <p14:creationId xmlns:p14="http://schemas.microsoft.com/office/powerpoint/2010/main" val="1701636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aoCaoNopLai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457</Words>
  <Application>Microsoft Office PowerPoint</Application>
  <PresentationFormat>Widescreen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Tahoma</vt:lpstr>
      <vt:lpstr>Office Theme</vt:lpstr>
      <vt:lpstr>XÂY DỰNG WEBSITE TUYỂN DỤNG VÀ TÌM KIẾM VIỆC LÀM</vt:lpstr>
      <vt:lpstr>Nội dung</vt:lpstr>
      <vt:lpstr>1. Lý do chọn đề tài</vt:lpstr>
      <vt:lpstr>2. Mục tiêu nghiên cứu</vt:lpstr>
      <vt:lpstr>3. Cơ sở lý thuyết</vt:lpstr>
      <vt:lpstr>4. Phân tích yêu cầu</vt:lpstr>
      <vt:lpstr>5. Thiết kế dữ liệu</vt:lpstr>
      <vt:lpstr>6. Thiết kế xử lý</vt:lpstr>
      <vt:lpstr>6. Thiết kế xử lý</vt:lpstr>
      <vt:lpstr>6. Thiết kế xử lý</vt:lpstr>
      <vt:lpstr>6. Thiết kế xử lý</vt:lpstr>
      <vt:lpstr>6. Thiết kế xử lý</vt:lpstr>
      <vt:lpstr>7. Kết quả</vt:lpstr>
      <vt:lpstr>8. Hướng phát triển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Quoc Viet</dc:creator>
  <cp:lastModifiedBy>Quoc Viet</cp:lastModifiedBy>
  <cp:revision>39</cp:revision>
  <dcterms:created xsi:type="dcterms:W3CDTF">2026-01-05T06:45:21Z</dcterms:created>
  <dcterms:modified xsi:type="dcterms:W3CDTF">2026-01-11T12:45:25Z</dcterms:modified>
</cp:coreProperties>
</file>